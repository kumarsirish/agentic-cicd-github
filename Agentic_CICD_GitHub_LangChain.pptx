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4" r:id="rId3"/>
    <p:sldId id="257" r:id="rId4"/>
    <p:sldId id="258" r:id="rId5"/>
    <p:sldId id="259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9" autoAdjust="0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7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447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64008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00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CI/CD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16002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GitHub Actions + LangChain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reads test results and decides: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 ·  RETRY  ·  STOP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3337560"/>
            <a:ext cx="1097280" cy="411480"/>
          </a:xfrm>
          <a:prstGeom prst="roundRect">
            <a:avLst>
              <a:gd name="adj" fmla="val 44444"/>
            </a:avLst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33375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828800" y="3337560"/>
            <a:ext cx="1097280" cy="411480"/>
          </a:xfrm>
          <a:prstGeom prst="roundRect">
            <a:avLst>
              <a:gd name="adj" fmla="val 44444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828800" y="33375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RETRY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83280" y="3337560"/>
            <a:ext cx="1097280" cy="411480"/>
          </a:xfrm>
          <a:prstGeom prst="roundRect">
            <a:avLst>
              <a:gd name="adj" fmla="val 44444"/>
            </a:avLst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383280" y="33375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STOP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 ·  Python / pytest  ·  LangChain  ·  OpenAI GPT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is CI/CD?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8084" y="1755647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(CI)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39572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build and test code every time a developer pushes changes. Catch bugs early, before they reach production.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4612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83280" y="1787653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 (CD)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83280" y="239572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release tested code to staging or production environments. Reduce manual effort and human error in deployments.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80760" y="11887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8076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1792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Agentic CI/CD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17920" y="239572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analyses test results and decides whether to GO, RETRY, or STOP the deployment — no human required in the loop.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Agentic CI/CD?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CI/CD pipelines deploy or fail based on static rules. This project introduces an AI agent that reads test logs and makes intelligent deployment decisions.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74320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1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Source Control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27889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pushed to Git triggers the Jenkins pipeline automatically via a webhook or polling.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0" y="1554480"/>
            <a:ext cx="274320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916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LLM-Powered Agent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337560" y="27889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 (GPT) reads test-results.log and reasons about what action to take.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26480" y="1554480"/>
            <a:ext cx="274320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69164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Decision Gate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263640" y="27889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GO decision allows deployment. STOP fails the build; RETRY re-runs tests once.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Jenkins Pipeline — 6 Stages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22960" cy="82296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" y="1920240"/>
            <a:ext cx="1371600" cy="914400"/>
          </a:xfrm>
          <a:prstGeom prst="rect">
            <a:avLst/>
          </a:prstGeom>
          <a:solidFill>
            <a:srgbClr val="F4F7FF"/>
          </a:solidFill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54480" y="2386584"/>
            <a:ext cx="109728" cy="0"/>
          </a:xfrm>
          <a:prstGeom prst="line">
            <a:avLst/>
          </a:prstGeom>
          <a:noFill/>
          <a:ln w="19050">
            <a:solidFill>
              <a:srgbClr val="8E9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645920" y="2331720"/>
            <a:ext cx="18288" cy="109728"/>
          </a:xfrm>
          <a:prstGeom prst="rect">
            <a:avLst/>
          </a:prstGeom>
          <a:solidFill>
            <a:srgbClr val="8E9EC2"/>
          </a:solidFill>
          <a:ln w="12700">
            <a:solidFill>
              <a:srgbClr val="8E9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984248" y="1005840"/>
            <a:ext cx="822960" cy="822960"/>
          </a:xfrm>
          <a:prstGeom prst="ellipse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984248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664208" y="1920240"/>
            <a:ext cx="1371600" cy="914400"/>
          </a:xfrm>
          <a:prstGeom prst="rect">
            <a:avLst/>
          </a:prstGeom>
          <a:solidFill>
            <a:srgbClr val="F4F7FF"/>
          </a:solidFill>
          <a:ln w="1905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664208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(py_compile)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35808" y="2386584"/>
            <a:ext cx="109728" cy="0"/>
          </a:xfrm>
          <a:prstGeom prst="line">
            <a:avLst/>
          </a:prstGeom>
          <a:noFill/>
          <a:ln w="19050">
            <a:solidFill>
              <a:srgbClr val="8E9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127248" y="2331720"/>
            <a:ext cx="18288" cy="109728"/>
          </a:xfrm>
          <a:prstGeom prst="rect">
            <a:avLst/>
          </a:prstGeom>
          <a:solidFill>
            <a:srgbClr val="8E9EC2"/>
          </a:solidFill>
          <a:ln w="12700">
            <a:solidFill>
              <a:srgbClr val="8E9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465576" y="1005840"/>
            <a:ext cx="822960" cy="82296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65576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145536" y="1920240"/>
            <a:ext cx="1371600" cy="914400"/>
          </a:xfrm>
          <a:prstGeom prst="rect">
            <a:avLst/>
          </a:prstGeom>
          <a:solidFill>
            <a:srgbClr val="F4F7FF"/>
          </a:solidFill>
          <a:ln w="190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145536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(pytest)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17136" y="2386584"/>
            <a:ext cx="109728" cy="0"/>
          </a:xfrm>
          <a:prstGeom prst="line">
            <a:avLst/>
          </a:prstGeom>
          <a:noFill/>
          <a:ln w="19050">
            <a:solidFill>
              <a:srgbClr val="8E9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608576" y="2331720"/>
            <a:ext cx="18288" cy="109728"/>
          </a:xfrm>
          <a:prstGeom prst="rect">
            <a:avLst/>
          </a:prstGeom>
          <a:solidFill>
            <a:srgbClr val="8E9EC2"/>
          </a:solidFill>
          <a:ln w="12700">
            <a:solidFill>
              <a:srgbClr val="8E9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946904" y="1005840"/>
            <a:ext cx="822960" cy="822960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46904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626864" y="1920240"/>
            <a:ext cx="1371600" cy="914400"/>
          </a:xfrm>
          <a:prstGeom prst="rect">
            <a:avLst/>
          </a:prstGeom>
          <a:solidFill>
            <a:srgbClr val="F4F7FF"/>
          </a:solidFill>
          <a:ln w="1905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26864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98464" y="2386584"/>
            <a:ext cx="109728" cy="0"/>
          </a:xfrm>
          <a:prstGeom prst="line">
            <a:avLst/>
          </a:prstGeom>
          <a:noFill/>
          <a:ln w="19050">
            <a:solidFill>
              <a:srgbClr val="8E9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089904" y="2331720"/>
            <a:ext cx="18288" cy="109728"/>
          </a:xfrm>
          <a:prstGeom prst="rect">
            <a:avLst/>
          </a:prstGeom>
          <a:solidFill>
            <a:srgbClr val="8E9EC2"/>
          </a:solidFill>
          <a:ln w="12700">
            <a:solidFill>
              <a:srgbClr val="8E9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428232" y="1005840"/>
            <a:ext cx="822960" cy="822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28232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108192" y="1920240"/>
            <a:ext cx="1371600" cy="914400"/>
          </a:xfrm>
          <a:prstGeom prst="rect">
            <a:avLst/>
          </a:prstGeom>
          <a:solidFill>
            <a:srgbClr val="F4F7FF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108192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79792" y="2386584"/>
            <a:ext cx="109728" cy="0"/>
          </a:xfrm>
          <a:prstGeom prst="line">
            <a:avLst/>
          </a:prstGeom>
          <a:noFill/>
          <a:ln w="19050">
            <a:solidFill>
              <a:srgbClr val="8E9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571232" y="2331720"/>
            <a:ext cx="18288" cy="109728"/>
          </a:xfrm>
          <a:prstGeom prst="rect">
            <a:avLst/>
          </a:prstGeom>
          <a:solidFill>
            <a:srgbClr val="8E9EC2"/>
          </a:solidFill>
          <a:ln w="12700">
            <a:solidFill>
              <a:srgbClr val="8E9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909560" y="1005840"/>
            <a:ext cx="822960" cy="8229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90956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589520" y="1920240"/>
            <a:ext cx="1371600" cy="914400"/>
          </a:xfrm>
          <a:prstGeom prst="rect">
            <a:avLst/>
          </a:prstGeom>
          <a:solidFill>
            <a:srgbClr val="F4F7FF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589520" y="1920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(deploy.sh)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82880" y="2971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664208" y="2971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py_compile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145536" y="2971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app.py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test-results.log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626864" y="2971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ai_agent.py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(LangChain+GPT)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08192" y="2971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decision.txt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GO/RETRY/STOP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589520" y="2971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deploy.sh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/opt/myapp/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11480" y="411480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Stage 4 (AI Agent) is the innovation: the LLM reads logs and writes one of three decisions to decision.txt, which Stage 5 acts upon.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5"/>
                </a:solidFill>
              </a:rPr>
              <a:t>AI Agent — Deep Dive  (ai_agent.py)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D68C"/>
                </a:solidFill>
              </a:rPr>
              <a:t>How the Agent Works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2344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test-results.log via read_logs() tool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1031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057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reasons about failures vs. success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92608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28803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retry_recommendation() detects transient keywords: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· connection · network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374904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7240" y="3703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one word to decision.txt: GO, RETRY, or STOP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4663440" y="749808"/>
            <a:ext cx="4206240" cy="4114800"/>
          </a:xfrm>
          <a:prstGeom prst="rect">
            <a:avLst/>
          </a:prstGeom>
          <a:solidFill>
            <a:srgbClr val="1A2540"/>
          </a:solidFill>
          <a:ln w="12700">
            <a:solidFill>
              <a:srgbClr val="2A40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8"/>
          <p:cNvSpPr/>
          <p:nvPr/>
        </p:nvSpPr>
        <p:spPr>
          <a:xfrm>
            <a:off x="4800600" y="822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E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ai_agent.py  (key snippet)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4800600" y="118872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
</a:t>
            </a: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4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read_logs(log_path):
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open(log_path).read()
</a:t>
            </a:r>
            <a:r>
              <a:rPr lang="en-US" sz="14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
</a:t>
            </a: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4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retry_recommendation(err):
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word in ['timeout','connection',
               'network']:
        if word in err.lower():
</a:t>
            </a: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</a:t>
            </a:r>
            <a:r>
              <a:rPr lang="en-US" sz="14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'RETRY'
</a:t>
            </a: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400" dirty="0">
                <a:solidFill>
                  <a:srgbClr val="E8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'STOP'
</a:t>
            </a:r>
            <a:r>
              <a:rPr lang="en-US" sz="1400" dirty="0">
                <a:solidFill>
                  <a:srgbClr val="8E9E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LangChain agent invocation
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create_agent(model=llm, tools=tools)
response = agent.invoke({...prompt...})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Decision Gate — Three Outcomes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926080" y="777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E9EC2"/>
                </a:solidFill>
              </a:rPr>
              <a:t>Agent reads decision.txt …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280160"/>
            <a:ext cx="274320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3DD6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2743200" cy="594360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GO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9659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Deploy Allowed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fully passed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1480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blocking failures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0" y="35112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deploy.sh executed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11480" y="3803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copied to /opt/myapp/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1280160"/>
            <a:ext cx="274320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200400" y="1280160"/>
            <a:ext cx="274320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200400" y="12801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RETRY</a:t>
            </a:r>
            <a:endParaRPr lang="en-US" sz="18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9659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9184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Re-run Tests Once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38328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error detected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383280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(timeout/connection/network)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383280" y="35112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retry(1) block executes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383280" y="3803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 deploy  |  FAIL → error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172200" y="1280160"/>
            <a:ext cx="274320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4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6172200" y="1280160"/>
            <a:ext cx="2743200" cy="594360"/>
          </a:xfrm>
          <a:prstGeom prst="rect">
            <a:avLst/>
          </a:prstGeom>
          <a:solidFill>
            <a:srgbClr val="E84545"/>
          </a:solidFill>
          <a:ln w="12700">
            <a:solidFill>
              <a:srgbClr val="E84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6172200" y="12801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STOP</a:t>
            </a:r>
            <a:endParaRPr lang="en-US" sz="18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96596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6364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Pipeline Blocked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35508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test failure detected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6355080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error() called in Jenkins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355080" y="35112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marked FAILURE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6355080" y="3803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stage skipped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580</Words>
  <Application>Microsoft Office PowerPoint</Application>
  <PresentationFormat>On-screen Show (16:9)</PresentationFormat>
  <Paragraphs>93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CI/CD with Jenkins + LangChain</dc:title>
  <dc:subject>PptxGenJS Presentation</dc:subject>
  <dc:creator>PptxGenJS</dc:creator>
  <cp:lastModifiedBy>Sirish Kumar</cp:lastModifiedBy>
  <cp:revision>3</cp:revision>
  <dcterms:created xsi:type="dcterms:W3CDTF">2026-05-30T14:50:33Z</dcterms:created>
  <dcterms:modified xsi:type="dcterms:W3CDTF">2026-06-09T16:27:56Z</dcterms:modified>
</cp:coreProperties>
</file>